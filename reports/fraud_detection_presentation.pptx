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Big Data Analytics with PySpark and 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Detect fraudulent financial transactions from historical data.</a:t>
            </a:r>
          </a:p>
          <a:p>
            <a:pPr>
              <a:defRPr sz="2200"/>
            </a:pPr>
            <a:r>
              <a:t>Dataset is highly imbalanced: fraud rate below 1%.</a:t>
            </a:r>
          </a:p>
          <a:p>
            <a:pPr>
              <a:defRPr sz="2200"/>
            </a:pPr>
            <a:r>
              <a:t>Need EDA, preprocessing, Spark processing and ML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Source: Kaggle Credit Card Transactions Fraud Detection.</a:t>
            </a:r>
          </a:p>
          <a:p>
            <a:pPr>
              <a:defRPr sz="2200"/>
            </a:pPr>
            <a:r>
              <a:t>Train: 1,296,675 transactions.</a:t>
            </a:r>
          </a:p>
          <a:p>
            <a:pPr>
              <a:defRPr sz="2200"/>
            </a:pPr>
            <a:r>
              <a:t>Test: 555,719 transactions.</a:t>
            </a:r>
          </a:p>
          <a:p>
            <a:pPr>
              <a:defRPr sz="2200"/>
            </a:pPr>
            <a:r>
              <a:t>Target: is_fraud.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Distribution</a:t>
            </a:r>
          </a:p>
        </p:txBody>
      </p:sp>
      <p:pic>
        <p:nvPicPr>
          <p:cNvPr id="3" name="Picture 2" descr="targe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4740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Category Fraud Analysis</a:t>
            </a:r>
          </a:p>
        </p:txBody>
      </p:sp>
      <p:pic>
        <p:nvPicPr>
          <p:cNvPr id="3" name="Picture 2" descr="category_transaction_count_and_fraud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28311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Time features: hour, day of week, month, weekend flag.</a:t>
            </a:r>
          </a:p>
          <a:p>
            <a:pPr>
              <a:defRPr sz="2200"/>
            </a:pPr>
            <a:r>
              <a:t>Customer age and customer-merchant distance.</a:t>
            </a:r>
          </a:p>
          <a:p>
            <a:pPr>
              <a:defRPr sz="2200"/>
            </a:pPr>
            <a:r>
              <a:t>One-hot encoding for category/gender/state.</a:t>
            </a:r>
          </a:p>
          <a:p>
            <a:pPr>
              <a:defRPr sz="2200"/>
            </a:pPr>
            <a:r>
              <a:t>Frequency encoding for merchant/job/city.</a:t>
            </a:r>
          </a:p>
          <a:p>
            <a:pPr>
              <a:defRPr sz="2200"/>
            </a:pPr>
            <a:r>
              <a:t>Numeric scaling and removal of direct identifiers.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Apache Spark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Read raw train data using Spark DataFrame.</a:t>
            </a:r>
          </a:p>
          <a:p>
            <a:pPr>
              <a:defRPr sz="2200"/>
            </a:pPr>
            <a:r>
              <a:t>Aggregate fraud by category, state, merchant and hour.</a:t>
            </a:r>
          </a:p>
          <a:p>
            <a:pPr>
              <a:defRPr sz="2200"/>
            </a:pPr>
            <a:r>
              <a:t>Spark version: 3.5.1.</a:t>
            </a:r>
          </a:p>
          <a:p>
            <a:pPr>
              <a:defRPr sz="2200"/>
            </a:pPr>
            <a:r>
              <a:t>Pandas vs Spark category aggregation: Spark was faster on this machine.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Evaluation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143000"/>
          <a:ext cx="85039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  <a:gridCol w="1417320"/>
                <a:gridCol w="1417320"/>
              </a:tblGrid>
              <a:tr h="548640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f1_score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roc_auc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random_forest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0.1802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0.3011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0.9899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logistic_regression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0.0451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0.9055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</a:t>
            </a:r>
          </a:p>
        </p:txBody>
      </p:sp>
      <p:pic>
        <p:nvPicPr>
          <p:cNvPr id="3" name="Picture 2" descr="roc_curve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570133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Confusion Matrix - Random Forest</a:t>
            </a:r>
          </a:p>
        </p:txBody>
      </p:sp>
      <p:pic>
        <p:nvPicPr>
          <p:cNvPr id="3" name="Picture 2" descr="confusion_matrix_random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680960" cy="70788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Random Forest achieved the best overall performance.</a:t>
            </a:r>
          </a:p>
          <a:p>
            <a:pPr>
              <a:defRPr sz="2200"/>
            </a:pPr>
            <a:r>
              <a:t>Recall: 0.9147, ROC-AUC: 0.9899.</a:t>
            </a:r>
          </a:p>
          <a:p>
            <a:pPr>
              <a:defRPr sz="2200"/>
            </a:pPr>
            <a:r>
              <a:t>High recall is important to reduce missed fraud cases.</a:t>
            </a:r>
          </a:p>
          <a:p>
            <a:pPr>
              <a:defRPr sz="2200"/>
            </a:pPr>
            <a:r>
              <a:t>Future work: threshold tuning, PR-AUC, XGBoost/LightGBM.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