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Fraud 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Big Data Analytics with PySpark and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Detect fraudulent financial transactions from historical data.</a:t>
            </a:r>
          </a:p>
          <a:p>
            <a:pPr>
              <a:defRPr sz="2200"/>
            </a:pPr>
            <a:r>
              <a:t>Dataset is highly imbalanced: fraud rate below 1%.</a:t>
            </a:r>
          </a:p>
          <a:p>
            <a:pPr>
              <a:defRPr sz="2200"/>
            </a:pPr>
            <a:r>
              <a:t>Need EDA, preprocessing, Spark processing and ML evaluation.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Source: Kaggle Credit Card Transactions Fraud Detection.</a:t>
            </a:r>
          </a:p>
          <a:p>
            <a:pPr>
              <a:defRPr sz="2200"/>
            </a:pPr>
            <a:r>
              <a:t>Train: 1,296,675 transactions.</a:t>
            </a:r>
          </a:p>
          <a:p>
            <a:pPr>
              <a:defRPr sz="2200"/>
            </a:pPr>
            <a:r>
              <a:t>Test: 555,719 transactions.</a:t>
            </a:r>
          </a:p>
          <a:p>
            <a:pPr>
              <a:defRPr sz="2200"/>
            </a:pPr>
            <a:r>
              <a:t>Target: is_fraud.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 Data 5V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Volume: more than 1.85M transactions across train and test.</a:t>
            </a:r>
          </a:p>
          <a:p>
            <a:pPr>
              <a:defRPr sz="2200"/>
            </a:pPr>
            <a:r>
              <a:t>Velocity: financial transactions require fast fraud alerts.</a:t>
            </a:r>
          </a:p>
          <a:p>
            <a:pPr>
              <a:defRPr sz="2200"/>
            </a:pPr>
            <a:r>
              <a:t>Variety: amount, time, location, merchant, category and customer profile.</a:t>
            </a:r>
          </a:p>
          <a:p>
            <a:pPr>
              <a:defRPr sz="2200"/>
            </a:pPr>
            <a:r>
              <a:t>Veracity: missing/duplicate checks and direct identifier removal.</a:t>
            </a:r>
          </a:p>
          <a:p>
            <a:pPr>
              <a:defRPr sz="2200"/>
            </a:pPr>
            <a:r>
              <a:t>Value: fraud detection supports risk reduction and decision making.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Distribution</a:t>
            </a:r>
          </a:p>
        </p:txBody>
      </p:sp>
      <p:pic>
        <p:nvPicPr>
          <p:cNvPr id="3" name="Picture 2" descr="eda_fig_01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7680960" cy="4740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Fraud Analysis</a:t>
            </a:r>
          </a:p>
        </p:txBody>
      </p:sp>
      <p:pic>
        <p:nvPicPr>
          <p:cNvPr id="3" name="Picture 2" descr="eda_fig_04_category_transaction_count_and_fraud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7680960" cy="28311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Time features: hour, day of week, month, weekend flag.</a:t>
            </a:r>
          </a:p>
          <a:p>
            <a:pPr>
              <a:defRPr sz="2200"/>
            </a:pPr>
            <a:r>
              <a:t>Customer age and customer-merchant distance.</a:t>
            </a:r>
          </a:p>
          <a:p>
            <a:pPr>
              <a:defRPr sz="2200"/>
            </a:pPr>
            <a:r>
              <a:t>One-hot encoding for category/gender/state.</a:t>
            </a:r>
          </a:p>
          <a:p>
            <a:pPr>
              <a:defRPr sz="2200"/>
            </a:pPr>
            <a:r>
              <a:t>Frequency encoding for merchant/job/city.</a:t>
            </a:r>
          </a:p>
          <a:p>
            <a:pPr>
              <a:defRPr sz="2200"/>
            </a:pPr>
            <a:r>
              <a:t>Numeric scaling and removal of direct identifiers.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Apache Spark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Read raw train data using Spark DataFrame.</a:t>
            </a:r>
          </a:p>
          <a:p>
            <a:pPr>
              <a:defRPr sz="2200"/>
            </a:pPr>
            <a:r>
              <a:t>Aggregate fraud by category, state, merchant and hour.</a:t>
            </a:r>
          </a:p>
          <a:p>
            <a:pPr>
              <a:defRPr sz="2200"/>
            </a:pPr>
            <a:r>
              <a:t>Spark version: 3.5.1.</a:t>
            </a:r>
          </a:p>
          <a:p>
            <a:pPr>
              <a:defRPr sz="2200"/>
            </a:pPr>
            <a:r>
              <a:t>Pandas vs Spark category aggregation: Spark was faster on this machine.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43000"/>
          <a:ext cx="85039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4845"/>
                <a:gridCol w="1214845"/>
                <a:gridCol w="1214845"/>
                <a:gridCol w="1214845"/>
                <a:gridCol w="1214845"/>
                <a:gridCol w="1214845"/>
                <a:gridCol w="1214850"/>
              </a:tblGrid>
              <a:tr h="164592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f1_score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roc_auc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pr_auc</a:t>
                      </a:r>
                    </a:p>
                  </a:txBody>
                  <a:tcPr/>
                </a:tc>
              </a:tr>
              <a:tr h="164592">
                <a:tc>
                  <a:txBody>
                    <a:bodyPr/>
                    <a:lstStyle/>
                    <a:p>
                      <a:r>
                        <a:t>hist_gradient_boosting_tuned_f1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0.3557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0.9976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0.8701</a:t>
                      </a:r>
                    </a:p>
                  </a:txBody>
                  <a:tcPr/>
                </a:tc>
              </a:tr>
              <a:tr h="164592">
                <a:tc>
                  <a:txBody>
                    <a:bodyPr/>
                    <a:lstStyle/>
                    <a:p>
                      <a:r>
                        <a:t>hist_gradient_boosting_high_recall_0_90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0.3557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0.9976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0.8701</a:t>
                      </a:r>
                    </a:p>
                  </a:txBody>
                  <a:tcPr/>
                </a:tc>
              </a:tr>
              <a:tr h="164592">
                <a:tc>
                  <a:txBody>
                    <a:bodyPr/>
                    <a:lstStyle/>
                    <a:p>
                      <a:r>
                        <a:t>hist_gradient_boosting_default_0_50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0.1938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0.9669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0.3229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0.9976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0.8701</a:t>
                      </a:r>
                    </a:p>
                  </a:txBody>
                  <a:tcPr/>
                </a:tc>
              </a:tr>
              <a:tr h="164592">
                <a:tc>
                  <a:txBody>
                    <a:bodyPr/>
                    <a:lstStyle/>
                    <a:p>
                      <a:r>
                        <a:t>random_forest_default_0_50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0.1802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0.9899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0.7441</a:t>
                      </a:r>
                    </a:p>
                  </a:txBody>
                  <a:tcPr/>
                </a:tc>
              </a:tr>
              <a:tr h="164592">
                <a:tc>
                  <a:txBody>
                    <a:bodyPr/>
                    <a:lstStyle/>
                    <a:p>
                      <a:r>
                        <a:t>random_forest_tuned_f1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0.1802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0.9899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0.7441</a:t>
                      </a:r>
                    </a:p>
                  </a:txBody>
                  <a:tcPr/>
                </a:tc>
              </a:tr>
              <a:tr h="164592">
                <a:tc>
                  <a:txBody>
                    <a:bodyPr/>
                    <a:lstStyle/>
                    <a:p>
                      <a:r>
                        <a:t>random_forest_high_recall_0_90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0.1802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0.9899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0.7441</a:t>
                      </a:r>
                    </a:p>
                  </a:txBody>
                  <a:tcPr/>
                </a:tc>
              </a:tr>
              <a:tr h="164592">
                <a:tc>
                  <a:txBody>
                    <a:bodyPr/>
                    <a:lstStyle/>
                    <a:p>
                      <a:r>
                        <a:t>logistic_regression_tuned_f1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0.1577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0.6699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0.2553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0.1189</a:t>
                      </a:r>
                    </a:p>
                  </a:txBody>
                  <a:tcPr/>
                </a:tc>
              </a:tr>
              <a:tr h="164592">
                <a:tc>
                  <a:txBody>
                    <a:bodyPr/>
                    <a:lstStyle/>
                    <a:p>
                      <a:r>
                        <a:t>logistic_regression_default_0_50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0.0451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0.1189</a:t>
                      </a:r>
                    </a:p>
                  </a:txBody>
                  <a:tcPr/>
                </a:tc>
              </a:tr>
              <a:tr h="164592">
                <a:tc>
                  <a:txBody>
                    <a:bodyPr/>
                    <a:lstStyle/>
                    <a:p>
                      <a:r>
                        <a:t>logistic_regression_high_recall_0_90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0.1189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Curve</a:t>
            </a:r>
          </a:p>
        </p:txBody>
      </p:sp>
      <p:pic>
        <p:nvPicPr>
          <p:cNvPr id="3" name="Picture 2" descr="model_fig_02_roc_curve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7680960" cy="57013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Precision-Recall Curve</a:t>
            </a:r>
          </a:p>
        </p:txBody>
      </p:sp>
      <p:pic>
        <p:nvPicPr>
          <p:cNvPr id="3" name="Picture 2" descr="model_fig_03_precision_recall_curve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7680960" cy="57013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 - HistGradientBoosting</a:t>
            </a:r>
          </a:p>
        </p:txBody>
      </p:sp>
      <p:pic>
        <p:nvPicPr>
          <p:cNvPr id="3" name="Picture 2" descr="model_fig_01_confusion_matrix_hist_gradient_boosting_tuned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7680960" cy="694688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HistGradientBoosting achieved the best overall performance.</a:t>
            </a:r>
          </a:p>
          <a:p>
            <a:pPr>
              <a:defRPr sz="2200"/>
            </a:pPr>
            <a:r>
              <a:t>Recall: 0.9245, F1-score: 0.5137.</a:t>
            </a:r>
          </a:p>
          <a:p>
            <a:pPr>
              <a:defRPr sz="2200"/>
            </a:pPr>
            <a:r>
              <a:t>ROC-AUC: 0.9976, PR-AUC: 0.8701.</a:t>
            </a:r>
          </a:p>
          <a:p>
            <a:pPr>
              <a:defRPr sz="2200"/>
            </a:pPr>
            <a:r>
              <a:t>F1-score improved from Random Forest's 0.3011 to 0.5137.</a:t>
            </a:r>
          </a:p>
          <a:p>
            <a:pPr>
              <a:defRPr sz="2200"/>
            </a:pPr>
            <a:r>
              <a:t>Future work: threshold tuning, PR-AUC, XGBoost/LightGBM.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